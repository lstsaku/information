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0" r:id="rId2"/>
    <p:sldId id="322" r:id="rId3"/>
    <p:sldId id="326" r:id="rId4"/>
    <p:sldId id="327" r:id="rId5"/>
    <p:sldId id="329" r:id="rId6"/>
    <p:sldId id="330" r:id="rId7"/>
    <p:sldId id="331" r:id="rId8"/>
    <p:sldId id="332" r:id="rId9"/>
    <p:sldId id="333" r:id="rId10"/>
    <p:sldId id="339" r:id="rId11"/>
    <p:sldId id="341" r:id="rId12"/>
    <p:sldId id="342" r:id="rId13"/>
    <p:sldId id="343" r:id="rId14"/>
    <p:sldId id="32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9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EDC18-F8D4-49E4-BD80-14F9D472259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51AAA-D287-4CF5-A25D-9A90193EE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251AAA-D287-4CF5-A25D-9A90193EE7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3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8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2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73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5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42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12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70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18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F11F1-FB6A-4EEE-8D7D-22B74F1DE17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DC58D-DAB9-4192-AEC0-4FC80B289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45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nizrp.narod.ru/metod/kafpriklmatiif/15.pdf?ysclid=mtmom6dxez808224036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97113" y="821979"/>
            <a:ext cx="10076069" cy="2536683"/>
          </a:xfrm>
        </p:spPr>
        <p:txBody>
          <a:bodyPr>
            <a:normAutofit/>
          </a:bodyPr>
          <a:lstStyle/>
          <a:p>
            <a:r>
              <a:rPr lang="ru-RU" sz="3200" dirty="0" smtClean="0">
                <a:latin typeface="Century Schoolbook" panose="02040604050505020304" pitchFamily="18" charset="0"/>
              </a:rPr>
              <a:t>Тема </a:t>
            </a:r>
            <a:r>
              <a:rPr lang="ru-RU" sz="3200" dirty="0">
                <a:latin typeface="Century Schoolbook" panose="02040604050505020304" pitchFamily="18" charset="0"/>
              </a:rPr>
              <a:t>«Задачи: классификация, методы решения, граничные условия»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968487" y="5945809"/>
            <a:ext cx="9144000" cy="769730"/>
          </a:xfrm>
        </p:spPr>
        <p:txBody>
          <a:bodyPr>
            <a:normAutofit/>
          </a:bodyPr>
          <a:lstStyle/>
          <a:p>
            <a:endParaRPr lang="ru-RU" sz="20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69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 smtClean="0"/>
              <a:t>Классификация задач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2000" b="1" dirty="0" smtClean="0"/>
              <a:t>По </a:t>
            </a:r>
            <a:r>
              <a:rPr lang="ru-RU" sz="2000" b="1" dirty="0"/>
              <a:t>характеру требования: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000" dirty="0" smtClean="0"/>
              <a:t>- </a:t>
            </a:r>
            <a:r>
              <a:rPr lang="ru-RU" sz="2000" dirty="0"/>
              <a:t>задачи на доказательство;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000" dirty="0" smtClean="0"/>
              <a:t>- </a:t>
            </a:r>
            <a:r>
              <a:rPr lang="ru-RU" sz="2000" dirty="0"/>
              <a:t>задачи на построение;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000" dirty="0" smtClean="0"/>
              <a:t>- </a:t>
            </a:r>
            <a:r>
              <a:rPr lang="ru-RU" sz="2000" dirty="0"/>
              <a:t>задачи на вычисление.</a:t>
            </a:r>
          </a:p>
          <a:p>
            <a:pPr>
              <a:lnSpc>
                <a:spcPct val="110000"/>
              </a:lnSpc>
            </a:pPr>
            <a:r>
              <a:rPr lang="ru-RU" sz="2000" b="1" dirty="0" smtClean="0"/>
              <a:t>По </a:t>
            </a:r>
            <a:r>
              <a:rPr lang="ru-RU" sz="2000" b="1" dirty="0"/>
              <a:t>функциональному назначению: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000" dirty="0" smtClean="0"/>
              <a:t>- </a:t>
            </a:r>
            <a:r>
              <a:rPr lang="ru-RU" sz="2000" dirty="0"/>
              <a:t>задачи с дидактическими функциями;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000" dirty="0" smtClean="0"/>
              <a:t>- </a:t>
            </a:r>
            <a:r>
              <a:rPr lang="ru-RU" sz="2000" dirty="0"/>
              <a:t>задачи с познавательными функциями;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000" dirty="0" smtClean="0"/>
              <a:t>- </a:t>
            </a:r>
            <a:r>
              <a:rPr lang="ru-RU" sz="2000" dirty="0"/>
              <a:t>задачи с развивающими функциями.</a:t>
            </a:r>
          </a:p>
          <a:p>
            <a:pPr>
              <a:lnSpc>
                <a:spcPct val="110000"/>
              </a:lnSpc>
            </a:pPr>
            <a:endParaRPr lang="ru-RU" sz="2000" dirty="0" smtClean="0"/>
          </a:p>
          <a:p>
            <a:pPr>
              <a:lnSpc>
                <a:spcPct val="110000"/>
              </a:lnSpc>
            </a:pPr>
            <a:r>
              <a:rPr lang="ru-RU" sz="2000" b="1" dirty="0" smtClean="0"/>
              <a:t>По </a:t>
            </a:r>
            <a:r>
              <a:rPr lang="ru-RU" sz="2000" b="1" dirty="0"/>
              <a:t>величине </a:t>
            </a:r>
            <a:r>
              <a:rPr lang="ru-RU" sz="2000" b="1" dirty="0" err="1"/>
              <a:t>проблемности</a:t>
            </a:r>
            <a:r>
              <a:rPr lang="ru-RU" sz="2000" b="1" dirty="0"/>
              <a:t>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000" dirty="0" smtClean="0"/>
              <a:t>- </a:t>
            </a:r>
            <a:r>
              <a:rPr lang="ru-RU" sz="2000" dirty="0"/>
              <a:t>стандартные;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000" dirty="0" smtClean="0"/>
              <a:t>- </a:t>
            </a:r>
            <a:r>
              <a:rPr lang="ru-RU" sz="2000" dirty="0"/>
              <a:t>обучающие;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000" dirty="0" smtClean="0"/>
              <a:t>- </a:t>
            </a:r>
            <a:r>
              <a:rPr lang="ru-RU" sz="2000" dirty="0"/>
              <a:t>поисковые;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000" dirty="0" smtClean="0"/>
              <a:t>- </a:t>
            </a:r>
            <a:r>
              <a:rPr lang="ru-RU" sz="2000" dirty="0"/>
              <a:t>проблемные</a:t>
            </a:r>
            <a:r>
              <a:rPr lang="ru-RU" sz="2000" dirty="0" smtClean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02087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ru-RU" sz="2000" b="1" dirty="0"/>
              <a:t>По методам решения: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2000" dirty="0"/>
              <a:t>- задачи на геометрические преобразования;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2000" dirty="0"/>
              <a:t>- задачи на векторы и др</a:t>
            </a:r>
            <a:r>
              <a:rPr lang="ru-RU" sz="2000" dirty="0" smtClean="0"/>
              <a:t>.</a:t>
            </a:r>
            <a:endParaRPr lang="ru-RU" sz="2000" dirty="0"/>
          </a:p>
          <a:p>
            <a:pPr algn="just">
              <a:lnSpc>
                <a:spcPct val="120000"/>
              </a:lnSpc>
            </a:pPr>
            <a:r>
              <a:rPr lang="ru-RU" sz="2000" b="1" dirty="0"/>
              <a:t>По числу объектов в условии задачи и связей между ними: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2000" dirty="0"/>
              <a:t>- простые;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2000" dirty="0"/>
              <a:t>- сложные.</a:t>
            </a:r>
          </a:p>
          <a:p>
            <a:pPr algn="just">
              <a:lnSpc>
                <a:spcPct val="120000"/>
              </a:lnSpc>
            </a:pPr>
            <a:endParaRPr lang="ru-RU" sz="2000" dirty="0" smtClean="0"/>
          </a:p>
          <a:p>
            <a:pPr algn="just">
              <a:lnSpc>
                <a:spcPct val="120000"/>
              </a:lnSpc>
            </a:pPr>
            <a:endParaRPr lang="ru-RU" sz="2000" dirty="0"/>
          </a:p>
          <a:p>
            <a:pPr algn="just">
              <a:lnSpc>
                <a:spcPct val="120000"/>
              </a:lnSpc>
            </a:pPr>
            <a:r>
              <a:rPr lang="ru-RU" sz="2000" b="1" dirty="0" smtClean="0"/>
              <a:t>По </a:t>
            </a:r>
            <a:r>
              <a:rPr lang="ru-RU" sz="2000" b="1" dirty="0"/>
              <a:t>компонентам учебной деятельности: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2000" dirty="0" smtClean="0"/>
              <a:t>	- </a:t>
            </a:r>
            <a:r>
              <a:rPr lang="ru-RU" sz="2000" dirty="0"/>
              <a:t>организационно-действенные;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2000" dirty="0" smtClean="0"/>
              <a:t>	- </a:t>
            </a:r>
            <a:r>
              <a:rPr lang="ru-RU" sz="2000" dirty="0"/>
              <a:t>стимулирующие;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2000" dirty="0" smtClean="0"/>
              <a:t>	- </a:t>
            </a:r>
            <a:r>
              <a:rPr lang="ru-RU" sz="2000" dirty="0"/>
              <a:t>контрольно-оценочные.</a:t>
            </a:r>
          </a:p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 smtClean="0"/>
              <a:t>Классификация задач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893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Виды задач и их функции: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2000" b="1" dirty="0"/>
              <a:t>1) Задачи для усвоения математических понятий</a:t>
            </a:r>
            <a:r>
              <a:rPr lang="ru-RU" sz="2000" b="1" dirty="0" smtClean="0"/>
              <a:t>.</a:t>
            </a:r>
            <a:endParaRPr lang="ru-RU" sz="2000" b="1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000" b="1" dirty="0"/>
              <a:t>2) Задачи для овладения математической символикой</a:t>
            </a:r>
            <a:r>
              <a:rPr lang="ru-RU" sz="2000" b="1" dirty="0" smtClean="0"/>
              <a:t>.</a:t>
            </a:r>
            <a:endParaRPr lang="ru-RU" sz="2000" b="1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000" b="1" dirty="0"/>
              <a:t>3) Задачи для обучения </a:t>
            </a:r>
            <a:r>
              <a:rPr lang="ru-RU" sz="2000" b="1" dirty="0" smtClean="0"/>
              <a:t>доказательствам.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000" b="1" dirty="0" smtClean="0"/>
              <a:t>4</a:t>
            </a:r>
            <a:r>
              <a:rPr lang="ru-RU" sz="2000" b="1" dirty="0"/>
              <a:t>) Задачи для формирования математических умений и навыков</a:t>
            </a:r>
            <a:r>
              <a:rPr lang="ru-RU" sz="2000" b="1" dirty="0" smtClean="0"/>
              <a:t>.</a:t>
            </a:r>
            <a:endParaRPr lang="ru-RU" sz="2000" b="1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000" b="1" dirty="0"/>
              <a:t>5) </a:t>
            </a:r>
            <a:r>
              <a:rPr lang="ru-RU" sz="2000" dirty="0"/>
              <a:t>Обучающую роль играют </a:t>
            </a:r>
            <a:r>
              <a:rPr lang="ru-RU" sz="2000" b="1" dirty="0" smtClean="0"/>
              <a:t>задачи</a:t>
            </a:r>
            <a:r>
              <a:rPr lang="ru-RU" sz="2000" b="1" dirty="0"/>
              <a:t>, предваряющие изучение новых математических фактов</a:t>
            </a:r>
            <a:r>
              <a:rPr lang="ru-RU" sz="2000" dirty="0"/>
              <a:t>, концентрирующие внимание учащихся на вновь изучаемых идеях, понятиях и методах математики, задачи, с помощью которых вводятся новые понятия и методы, задачи, создающие проблемную ситуацию с целью приобретения учащимися новых знаний.</a:t>
            </a:r>
          </a:p>
        </p:txBody>
      </p:sp>
    </p:spTree>
    <p:extLst>
      <p:ext uri="{BB962C8B-B14F-4D97-AF65-F5344CB8AC3E}">
        <p14:creationId xmlns:p14="http://schemas.microsoft.com/office/powerpoint/2010/main" val="3809751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Методы решения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ru-RU" sz="2000" b="1" dirty="0"/>
              <a:t>Задачи моделирования делятся на две категории: прямые и обратные.</a:t>
            </a:r>
          </a:p>
          <a:p>
            <a:pPr algn="just">
              <a:lnSpc>
                <a:spcPct val="120000"/>
              </a:lnSpc>
            </a:pPr>
            <a:r>
              <a:rPr lang="ru-RU" sz="2000" b="1" dirty="0" smtClean="0"/>
              <a:t>Прямые </a:t>
            </a:r>
            <a:r>
              <a:rPr lang="ru-RU" sz="2000" b="1" dirty="0"/>
              <a:t>задачи отвечают на вопрос, что будет, если при заданных условиях мы выберем какое-то решение из множества допустимых решений. </a:t>
            </a:r>
            <a:r>
              <a:rPr lang="ru-RU" sz="2000" dirty="0"/>
              <a:t>В частности, чему будет равен, при выбранном решении критерий эффективности.</a:t>
            </a:r>
          </a:p>
          <a:p>
            <a:pPr algn="just">
              <a:lnSpc>
                <a:spcPct val="120000"/>
              </a:lnSpc>
            </a:pPr>
            <a:r>
              <a:rPr lang="ru-RU" sz="2000" b="1" dirty="0" smtClean="0"/>
              <a:t>Обратные </a:t>
            </a:r>
            <a:r>
              <a:rPr lang="ru-RU" sz="2000" b="1" dirty="0"/>
              <a:t>задачи отвечают на вопрос: как выбрать решение из множества допустимых решений, чтобы критерий эффективности </a:t>
            </a:r>
            <a:r>
              <a:rPr lang="ru-RU" sz="2000" b="1" dirty="0" smtClean="0"/>
              <a:t>обращался </a:t>
            </a:r>
            <a:r>
              <a:rPr lang="ru-RU" sz="2000" b="1" dirty="0"/>
              <a:t>в максимум или минимум</a:t>
            </a:r>
            <a:r>
              <a:rPr lang="ru-RU" sz="2000" b="1" dirty="0" smtClean="0"/>
              <a:t>.</a:t>
            </a:r>
          </a:p>
          <a:p>
            <a:pPr algn="just">
              <a:lnSpc>
                <a:spcPct val="120000"/>
              </a:lnSpc>
            </a:pPr>
            <a:r>
              <a:rPr lang="ru-RU" sz="2000" b="1" dirty="0"/>
              <a:t>Если число допустимых вариантов решения невелико, то можно вычислить критерий эффектности для каждого из них, </a:t>
            </a:r>
            <a:r>
              <a:rPr lang="ru-RU" sz="2000" dirty="0"/>
              <a:t>сравнить между собой полученные значения </a:t>
            </a:r>
            <a:r>
              <a:rPr lang="ru-RU" sz="2000" b="1" dirty="0"/>
              <a:t>и </a:t>
            </a:r>
            <a:r>
              <a:rPr lang="ru-RU" sz="2000" dirty="0"/>
              <a:t>непосредственно</a:t>
            </a:r>
            <a:r>
              <a:rPr lang="ru-RU" sz="2000" b="1" dirty="0"/>
              <a:t> указать один или несколько оптимальных вариантов. </a:t>
            </a:r>
            <a:r>
              <a:rPr lang="ru-RU" sz="2000" dirty="0"/>
              <a:t>Такой способ нахождения оптимального решения называется </a:t>
            </a:r>
            <a:r>
              <a:rPr lang="ru-RU" sz="2000" b="1" dirty="0"/>
              <a:t>"простым перебором"</a:t>
            </a:r>
            <a:r>
              <a:rPr lang="ru-RU" sz="2000" dirty="0"/>
              <a:t>. Когда число допустимых вариантов решения велико, то поиск оптимального решения простым перебором затруднителен, а зачастую практически невозможен. В этих случаях </a:t>
            </a:r>
            <a:r>
              <a:rPr lang="ru-RU" sz="2000" b="1" dirty="0"/>
              <a:t>применяются методы "направленного" перебора, обладающие той особенностью, что оптимальное решение находится рядом последовательных попыток или приближений, из которых каждое последующие приближает нас к искомому оптимальному.</a:t>
            </a:r>
          </a:p>
        </p:txBody>
      </p:sp>
    </p:spTree>
    <p:extLst>
      <p:ext uri="{BB962C8B-B14F-4D97-AF65-F5344CB8AC3E}">
        <p14:creationId xmlns:p14="http://schemas.microsoft.com/office/powerpoint/2010/main" val="203359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Методы решения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dirty="0"/>
              <a:t>Модели принятия оптимальных решений отличаются универсальностью. Их можно классифицировать как задачи минимизации (максимизации) критерия эффективности, компоненты которого удовлетворяют системе ограничений (равенств и/или) неравенств.</a:t>
            </a:r>
          </a:p>
          <a:p>
            <a:pPr algn="just">
              <a:lnSpc>
                <a:spcPct val="100000"/>
              </a:lnSpc>
            </a:pPr>
            <a:r>
              <a:rPr lang="ru-RU" sz="2000" dirty="0" smtClean="0"/>
              <a:t>Их </a:t>
            </a:r>
            <a:r>
              <a:rPr lang="ru-RU" sz="2000" dirty="0"/>
              <a:t>можно разделить на:</a:t>
            </a:r>
          </a:p>
          <a:p>
            <a:pPr algn="just">
              <a:lnSpc>
                <a:spcPct val="100000"/>
              </a:lnSpc>
            </a:pPr>
            <a:r>
              <a:rPr lang="ru-RU" sz="2000" dirty="0" smtClean="0"/>
              <a:t>принятие </a:t>
            </a:r>
            <a:r>
              <a:rPr lang="ru-RU" sz="2000" dirty="0"/>
              <a:t>решений в условиях определенности - исходные данные - детерминированные; </a:t>
            </a:r>
            <a:endParaRPr lang="ru-RU" sz="2000" dirty="0" smtClean="0"/>
          </a:p>
          <a:p>
            <a:pPr algn="just">
              <a:lnSpc>
                <a:spcPct val="100000"/>
              </a:lnSpc>
            </a:pPr>
            <a:r>
              <a:rPr lang="ru-RU" sz="2000" dirty="0" smtClean="0"/>
              <a:t>принятие </a:t>
            </a:r>
            <a:r>
              <a:rPr lang="ru-RU" sz="2000" dirty="0"/>
              <a:t>решений в условиях неопределенности - исходные данные - случайные величины.</a:t>
            </a:r>
          </a:p>
        </p:txBody>
      </p:sp>
    </p:spTree>
    <p:extLst>
      <p:ext uri="{BB962C8B-B14F-4D97-AF65-F5344CB8AC3E}">
        <p14:creationId xmlns:p14="http://schemas.microsoft.com/office/powerpoint/2010/main" val="219433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 smtClean="0"/>
              <a:t>Классификация задач оптимизации</a:t>
            </a:r>
            <a:endParaRPr lang="ru-RU" sz="4000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860125"/>
              </p:ext>
            </p:extLst>
          </p:nvPr>
        </p:nvGraphicFramePr>
        <p:xfrm>
          <a:off x="873539" y="1466747"/>
          <a:ext cx="10515600" cy="37236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3218309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372338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773854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67443616"/>
                    </a:ext>
                  </a:extLst>
                </a:gridCol>
              </a:tblGrid>
              <a:tr h="471108">
                <a:tc>
                  <a:txBody>
                    <a:bodyPr/>
                    <a:lstStyle/>
                    <a:p>
                      <a:r>
                        <a:rPr lang="ru-RU" dirty="0" smtClean="0"/>
                        <a:t>Исходные данные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Переменные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Зависимости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Задача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847735"/>
                  </a:ext>
                </a:extLst>
              </a:tr>
              <a:tr h="813145">
                <a:tc>
                  <a:txBody>
                    <a:bodyPr/>
                    <a:lstStyle/>
                    <a:p>
                      <a:r>
                        <a:rPr lang="ru-RU" dirty="0" smtClean="0"/>
                        <a:t>Детерминированные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Непрерывные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Линейные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Линейного программирования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073747"/>
                  </a:ext>
                </a:extLst>
              </a:tr>
              <a:tr h="813145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Целочисленные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Линейные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Целочисленного программирования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191670"/>
                  </a:ext>
                </a:extLst>
              </a:tr>
              <a:tr h="81314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Непрерывные, целочисленные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Нелинейные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Нелинейного</a:t>
                      </a:r>
                      <a:r>
                        <a:rPr lang="ru-RU" baseline="0" dirty="0" smtClean="0"/>
                        <a:t> программирования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420738"/>
                  </a:ext>
                </a:extLst>
              </a:tr>
              <a:tr h="813145">
                <a:tc>
                  <a:txBody>
                    <a:bodyPr/>
                    <a:lstStyle/>
                    <a:p>
                      <a:r>
                        <a:rPr lang="ru-RU" dirty="0" smtClean="0"/>
                        <a:t>Случайные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Непрерывные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Линейные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Стохастического</a:t>
                      </a:r>
                      <a:r>
                        <a:rPr lang="ru-RU" baseline="0" dirty="0" smtClean="0"/>
                        <a:t> программирования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2293"/>
                  </a:ext>
                </a:extLst>
              </a:tr>
            </a:tbl>
          </a:graphicData>
        </a:graphic>
      </p:graphicFrame>
      <p:pic>
        <p:nvPicPr>
          <p:cNvPr id="1026" name="Picture 2" descr="https://intuit.ru/EDI/28_11_18_2/1543357168-6234/tutorial/903/objects/5/files/05_05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83"/>
          <a:stretch/>
        </p:blipFill>
        <p:spPr bwMode="auto">
          <a:xfrm>
            <a:off x="8809245" y="5273825"/>
            <a:ext cx="3382755" cy="15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688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Методы решения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sz="2000" b="1" dirty="0" smtClean="0"/>
              <a:t>По </a:t>
            </a:r>
            <a:r>
              <a:rPr lang="ru-RU" sz="2000" b="1" dirty="0"/>
              <a:t>критерию эффективности:</a:t>
            </a:r>
          </a:p>
          <a:p>
            <a:pPr algn="just">
              <a:lnSpc>
                <a:spcPct val="110000"/>
              </a:lnSpc>
            </a:pPr>
            <a:r>
              <a:rPr lang="ru-RU" sz="2000" b="1" dirty="0" smtClean="0"/>
              <a:t>одноцелевое </a:t>
            </a:r>
            <a:r>
              <a:rPr lang="ru-RU" sz="2000" b="1" dirty="0"/>
              <a:t>принятие решений (один критерий эффективности);</a:t>
            </a:r>
          </a:p>
          <a:p>
            <a:pPr algn="just">
              <a:lnSpc>
                <a:spcPct val="110000"/>
              </a:lnSpc>
            </a:pPr>
            <a:r>
              <a:rPr lang="ru-RU" sz="2000" b="1" dirty="0" smtClean="0"/>
              <a:t>многоцелевое </a:t>
            </a:r>
            <a:r>
              <a:rPr lang="ru-RU" sz="2000" b="1" dirty="0"/>
              <a:t>принятие решений (несколько критериев эффективности</a:t>
            </a:r>
            <a:r>
              <a:rPr lang="ru-RU" sz="2000" b="1" dirty="0" smtClean="0"/>
              <a:t>).</a:t>
            </a:r>
          </a:p>
          <a:p>
            <a:pPr algn="just">
              <a:lnSpc>
                <a:spcPct val="110000"/>
              </a:lnSpc>
            </a:pPr>
            <a:endParaRPr lang="ru-RU" sz="20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ru-RU" sz="2000" dirty="0" smtClean="0"/>
              <a:t>	Наиболее </a:t>
            </a:r>
            <a:r>
              <a:rPr lang="ru-RU" sz="2000" dirty="0"/>
              <a:t>разработан и широко используется на практике аппарат одноцелевого принятия решений в условиях определенности, который получил название </a:t>
            </a:r>
            <a:r>
              <a:rPr lang="ru-RU" sz="2000" b="1" dirty="0"/>
              <a:t>математического программирования.</a:t>
            </a:r>
            <a:r>
              <a:rPr lang="ru-RU" sz="2000" dirty="0"/>
              <a:t> В этом "детерминированном" случаи, когда все условия операции известны заранее. </a:t>
            </a:r>
            <a:r>
              <a:rPr lang="ru-RU" sz="2000" b="1" dirty="0"/>
              <a:t>Т</a:t>
            </a:r>
            <a:r>
              <a:rPr lang="ru-RU" sz="2000" b="1" dirty="0" smtClean="0"/>
              <a:t>огда</a:t>
            </a:r>
            <a:r>
              <a:rPr lang="ru-RU" sz="2000" b="1" dirty="0"/>
              <a:t>, обратная задача будет включает в себя критерий эффективности и некоторые известные заранее факторы (ограничения) позволяющие выбрать множество допустимых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2079584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Методы решения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ru-RU" b="1" dirty="0"/>
              <a:t>В общем виде обратная детерминированная задача будет выглядеть следующим образом.</a:t>
            </a:r>
          </a:p>
          <a:p>
            <a:pPr algn="just">
              <a:lnSpc>
                <a:spcPct val="120000"/>
              </a:lnSpc>
            </a:pPr>
            <a:r>
              <a:rPr lang="ru-RU" b="1" dirty="0" smtClean="0"/>
              <a:t>При </a:t>
            </a:r>
            <a:r>
              <a:rPr lang="ru-RU" b="1" dirty="0"/>
              <a:t>заданном комплексе ограничений найти такое оптимальное решение, принадлежащее множеству допустимых решений, которое обращает критерий эффективности в максимум (минимум).</a:t>
            </a:r>
          </a:p>
          <a:p>
            <a:pPr algn="just">
              <a:lnSpc>
                <a:spcPct val="120000"/>
              </a:lnSpc>
            </a:pPr>
            <a:r>
              <a:rPr lang="ru-RU" dirty="0" smtClean="0"/>
              <a:t>Метод </a:t>
            </a:r>
            <a:r>
              <a:rPr lang="ru-RU" dirty="0"/>
              <a:t>поиска экстремума и связанного с ним оптимального решения должен всегда исходить из особенности критерия эффективности и вида ограничений, налагаемых на решение.</a:t>
            </a:r>
          </a:p>
          <a:p>
            <a:pPr algn="just">
              <a:lnSpc>
                <a:spcPct val="120000"/>
              </a:lnSpc>
            </a:pPr>
            <a:r>
              <a:rPr lang="ru-RU" dirty="0" smtClean="0"/>
              <a:t>Реальные </a:t>
            </a:r>
            <a:r>
              <a:rPr lang="ru-RU" dirty="0"/>
              <a:t>задачи </a:t>
            </a:r>
            <a:r>
              <a:rPr lang="ru-RU" dirty="0" smtClean="0"/>
              <a:t>содержат </a:t>
            </a:r>
            <a:r>
              <a:rPr lang="ru-RU" dirty="0"/>
              <a:t>помимо выше перечисленных факторов, еще одну группу - неизвестные факторы. </a:t>
            </a:r>
            <a:r>
              <a:rPr lang="ru-RU" b="1" dirty="0"/>
              <a:t>Тогда обратную задачу можно сформулировать следующим образом.</a:t>
            </a:r>
          </a:p>
          <a:p>
            <a:pPr algn="just">
              <a:lnSpc>
                <a:spcPct val="120000"/>
              </a:lnSpc>
            </a:pPr>
            <a:r>
              <a:rPr lang="ru-RU" b="1" dirty="0" smtClean="0"/>
              <a:t>При </a:t>
            </a:r>
            <a:r>
              <a:rPr lang="ru-RU" b="1" dirty="0"/>
              <a:t>заданном комплексе ограничений, с учетом неизвестных факторов, найти такое оптимальное решение, принадлежащее множеству допустимых решений, которое, по возможности, обеспечивает максимальное (минимальное) значение критерий эффективности.</a:t>
            </a:r>
          </a:p>
          <a:p>
            <a:pPr algn="just">
              <a:lnSpc>
                <a:spcPct val="120000"/>
              </a:lnSpc>
            </a:pPr>
            <a:r>
              <a:rPr lang="ru-RU" dirty="0" smtClean="0"/>
              <a:t>Это </a:t>
            </a:r>
            <a:r>
              <a:rPr lang="ru-RU" dirty="0"/>
              <a:t>уже другая, не чисто математическая задача. Наличие неопределенных факторов переводит эту задачу в новое качество: она превращается в задачу о выборе решений в условиях неопределенности.</a:t>
            </a:r>
          </a:p>
        </p:txBody>
      </p:sp>
    </p:spTree>
    <p:extLst>
      <p:ext uri="{BB962C8B-B14F-4D97-AF65-F5344CB8AC3E}">
        <p14:creationId xmlns:p14="http://schemas.microsoft.com/office/powerpoint/2010/main" val="262539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 smtClean="0"/>
              <a:t>Начальные и граничные условия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ru-RU" sz="2000" dirty="0" smtClean="0"/>
              <a:t>Для </a:t>
            </a:r>
            <a:r>
              <a:rPr lang="ru-RU" sz="2000" dirty="0"/>
              <a:t>использования численных методов при решении дифференциального уравнения необходимо дополнительные условия. </a:t>
            </a:r>
            <a:r>
              <a:rPr lang="ru-RU" sz="2000" b="1" dirty="0"/>
              <a:t>Если искомая </a:t>
            </a:r>
            <a:r>
              <a:rPr lang="ru-RU" sz="2000" dirty="0"/>
              <a:t>функция(концентрация, температура и </a:t>
            </a:r>
            <a:r>
              <a:rPr lang="ru-RU" sz="2000" dirty="0" err="1"/>
              <a:t>т.д</a:t>
            </a:r>
            <a:r>
              <a:rPr lang="ru-RU" sz="2000" dirty="0"/>
              <a:t>)</a:t>
            </a:r>
            <a:r>
              <a:rPr lang="ru-RU" sz="2000" b="1" dirty="0"/>
              <a:t> является функцией времени u=u(t), то требуются начальные условия, </a:t>
            </a:r>
            <a:r>
              <a:rPr lang="ru-RU" sz="2000" dirty="0"/>
              <a:t>которые являются значением этой функции в момент времени, принятый за начальный</a:t>
            </a:r>
            <a:r>
              <a:rPr lang="ru-RU" sz="2000" dirty="0" smtClean="0"/>
              <a:t>:</a:t>
            </a:r>
          </a:p>
          <a:p>
            <a:pPr algn="just">
              <a:lnSpc>
                <a:spcPct val="100000"/>
              </a:lnSpc>
            </a:pPr>
            <a:endParaRPr lang="ru-RU" sz="2000" dirty="0" smtClean="0"/>
          </a:p>
          <a:p>
            <a:pPr algn="just">
              <a:lnSpc>
                <a:spcPct val="100000"/>
              </a:lnSpc>
            </a:pPr>
            <a:r>
              <a:rPr lang="ru-RU" sz="2000" b="1" dirty="0"/>
              <a:t>Если начальная функция </a:t>
            </a:r>
            <a:r>
              <a:rPr lang="ru-RU" sz="2000" dirty="0"/>
              <a:t>также</a:t>
            </a:r>
            <a:r>
              <a:rPr lang="ru-RU" sz="2000" b="1" dirty="0"/>
              <a:t> зависит и от пространственных координат u=u(</a:t>
            </a:r>
            <a:r>
              <a:rPr lang="ru-RU" sz="2000" b="1" dirty="0" err="1"/>
              <a:t>t,x</a:t>
            </a:r>
            <a:r>
              <a:rPr lang="ru-RU" sz="2000" b="1" dirty="0"/>
              <a:t>), то начальное условие характеризуют ее распределение в пространстве в начальный момент времени</a:t>
            </a:r>
            <a:r>
              <a:rPr lang="ru-RU" sz="2000" b="1" dirty="0" smtClean="0"/>
              <a:t>:</a:t>
            </a:r>
          </a:p>
          <a:p>
            <a:pPr algn="just">
              <a:lnSpc>
                <a:spcPct val="100000"/>
              </a:lnSpc>
            </a:pPr>
            <a:endParaRPr lang="ru-RU" sz="2000" dirty="0"/>
          </a:p>
          <a:p>
            <a:pPr algn="just">
              <a:lnSpc>
                <a:spcPct val="100000"/>
              </a:lnSpc>
            </a:pPr>
            <a:r>
              <a:rPr lang="ru-RU" sz="2000" dirty="0"/>
              <a:t>В последнем случае помимо начальных условий </a:t>
            </a:r>
            <a:r>
              <a:rPr lang="ru-RU" sz="2000" b="1" dirty="0"/>
              <a:t>требуются еще и граничные условия, которые имеют значения функции u(</a:t>
            </a:r>
            <a:r>
              <a:rPr lang="ru-RU" sz="2000" b="1" dirty="0" err="1"/>
              <a:t>t,x</a:t>
            </a:r>
            <a:r>
              <a:rPr lang="ru-RU" sz="2000" b="1" dirty="0"/>
              <a:t>) на границе изучаемой системы для любого момента времени.</a:t>
            </a:r>
            <a:r>
              <a:rPr lang="ru-RU" sz="2000" dirty="0"/>
              <a:t> Причем, если искомая функция зависит от нескольких пространственных координат, то необходимо задавать граничные условия по каждой из них.</a:t>
            </a:r>
          </a:p>
          <a:p>
            <a:pPr algn="just">
              <a:lnSpc>
                <a:spcPct val="100000"/>
              </a:lnSpc>
            </a:pPr>
            <a:endParaRPr lang="en-US" sz="2400" dirty="0"/>
          </a:p>
        </p:txBody>
      </p:sp>
      <p:pic>
        <p:nvPicPr>
          <p:cNvPr id="3074" name="Picture 2" descr="u(t=0)=u^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1410" y="2912174"/>
            <a:ext cx="2172390" cy="439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(t=0, x)=u^0(x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296" y="4263057"/>
            <a:ext cx="2861504" cy="40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945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Классификация граничных условий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50122"/>
            <a:ext cx="10515600" cy="492684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ru-RU" sz="2000" b="1" dirty="0"/>
              <a:t>Р</a:t>
            </a:r>
            <a:r>
              <a:rPr lang="ru-RU" sz="2000" b="1" dirty="0" smtClean="0"/>
              <a:t>ассмотрим </a:t>
            </a:r>
            <a:r>
              <a:rPr lang="ru-RU" sz="2000" b="1" dirty="0"/>
              <a:t>классификацию на примере уравнения:</a:t>
            </a:r>
          </a:p>
          <a:p>
            <a:pPr>
              <a:lnSpc>
                <a:spcPct val="100000"/>
              </a:lnSpc>
            </a:pPr>
            <a:r>
              <a:rPr lang="ru-RU" sz="2000" b="1" dirty="0" smtClean="0"/>
              <a:t>u=u(</a:t>
            </a:r>
            <a:r>
              <a:rPr lang="ru-RU" sz="2000" b="1" dirty="0" err="1" smtClean="0"/>
              <a:t>t,x</a:t>
            </a:r>
            <a:r>
              <a:rPr lang="ru-RU" sz="2000" b="1" dirty="0"/>
              <a:t>)</a:t>
            </a:r>
          </a:p>
          <a:p>
            <a:pPr>
              <a:lnSpc>
                <a:spcPct val="100000"/>
              </a:lnSpc>
            </a:pPr>
            <a:r>
              <a:rPr lang="ru-RU" sz="2000" dirty="0" smtClean="0"/>
              <a:t>x </a:t>
            </a:r>
            <a:r>
              <a:rPr lang="ru-RU" sz="2000" dirty="0"/>
              <a:t>будет изменятся от 0 до l, соответственно при x=0, будет левая граница, а при x=l, будет правая</a:t>
            </a:r>
            <a:r>
              <a:rPr lang="ru-RU" sz="2000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Относительно дополнительных условий по пространственной координате x имеется гораздо большее разнообразие. А именно, существует три типа граничных условий: граничные условия 1-го, 2-го, 3-го рода.</a:t>
            </a:r>
            <a:endParaRPr lang="ru-RU" sz="2000" dirty="0" smtClean="0"/>
          </a:p>
          <a:p>
            <a:pPr>
              <a:lnSpc>
                <a:spcPct val="100000"/>
              </a:lnSpc>
            </a:pPr>
            <a:r>
              <a:rPr lang="ru-RU" sz="2000" b="1" dirty="0"/>
              <a:t>Граничные условия 1-ого рода</a:t>
            </a:r>
          </a:p>
          <a:p>
            <a:pPr>
              <a:lnSpc>
                <a:spcPct val="100000"/>
              </a:lnSpc>
            </a:pPr>
            <a:r>
              <a:rPr lang="ru-RU" sz="2000" b="1" dirty="0"/>
              <a:t>В этом случае, на границе области, где </a:t>
            </a:r>
            <a:endParaRPr lang="ru-RU" sz="2000" b="1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изучается </a:t>
            </a:r>
            <a:r>
              <a:rPr lang="ru-RU" sz="2000" b="1" dirty="0"/>
              <a:t>процесс, задается значение </a:t>
            </a:r>
            <a:endParaRPr lang="ru-RU" sz="2000" b="1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искомой </a:t>
            </a:r>
            <a:r>
              <a:rPr lang="ru-RU" sz="2000" b="1" dirty="0"/>
              <a:t>функции (температуры или </a:t>
            </a:r>
            <a:endParaRPr lang="ru-RU" sz="2000" b="1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2000" b="1" dirty="0" smtClean="0"/>
              <a:t>концентрации).</a:t>
            </a:r>
            <a:endParaRPr lang="ru-RU" sz="2000" b="1" dirty="0"/>
          </a:p>
          <a:p>
            <a:pPr>
              <a:lnSpc>
                <a:spcPct val="100000"/>
              </a:lnSpc>
            </a:pPr>
            <a:r>
              <a:rPr lang="ru-RU" sz="2000" dirty="0" smtClean="0"/>
              <a:t>Записываются </a:t>
            </a:r>
            <a:r>
              <a:rPr lang="ru-RU" sz="2000" dirty="0"/>
              <a:t>следующим образом</a:t>
            </a:r>
            <a:r>
              <a:rPr lang="ru-RU" sz="2000" dirty="0" smtClean="0"/>
              <a:t>:</a:t>
            </a:r>
          </a:p>
          <a:p>
            <a:pPr>
              <a:lnSpc>
                <a:spcPct val="100000"/>
              </a:lnSpc>
            </a:pPr>
            <a:endParaRPr lang="ru-RU" sz="2400" dirty="0"/>
          </a:p>
          <a:p>
            <a:pPr>
              <a:lnSpc>
                <a:spcPct val="100000"/>
              </a:lnSpc>
            </a:pP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55850"/>
            <a:ext cx="5578889" cy="292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80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Классификация граничных условий</a:t>
            </a:r>
            <a:endParaRPr lang="en-US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ru-RU" sz="2400" b="1" dirty="0"/>
              <a:t>Граничные условия 2-ого </a:t>
            </a:r>
            <a:r>
              <a:rPr lang="ru-RU" sz="2400" b="1" dirty="0" smtClean="0"/>
              <a:t>рода</a:t>
            </a:r>
          </a:p>
          <a:p>
            <a:pPr algn="just">
              <a:lnSpc>
                <a:spcPct val="100000"/>
              </a:lnSpc>
            </a:pPr>
            <a:endParaRPr lang="ru-RU" sz="2400" b="1" dirty="0"/>
          </a:p>
          <a:p>
            <a:pPr algn="just">
              <a:lnSpc>
                <a:spcPct val="100000"/>
              </a:lnSpc>
            </a:pPr>
            <a:endParaRPr lang="ru-RU" sz="2400" dirty="0" smtClean="0"/>
          </a:p>
          <a:p>
            <a:pPr algn="just">
              <a:lnSpc>
                <a:spcPct val="100000"/>
              </a:lnSpc>
            </a:pPr>
            <a:endParaRPr lang="ru-RU" sz="2400" dirty="0" smtClean="0"/>
          </a:p>
          <a:p>
            <a:pPr algn="just">
              <a:lnSpc>
                <a:spcPct val="100000"/>
              </a:lnSpc>
            </a:pPr>
            <a:r>
              <a:rPr lang="ru-RU" sz="2400" b="1" dirty="0" smtClean="0"/>
              <a:t>Здесь </a:t>
            </a:r>
            <a:r>
              <a:rPr lang="ru-RU" sz="2400" b="1" dirty="0"/>
              <a:t>вместо самих функций используются их первые производные.</a:t>
            </a:r>
          </a:p>
          <a:p>
            <a:pPr algn="just">
              <a:lnSpc>
                <a:spcPct val="100000"/>
              </a:lnSpc>
            </a:pPr>
            <a:r>
              <a:rPr lang="ru-RU" sz="2400" b="1" dirty="0" smtClean="0"/>
              <a:t>Граничные </a:t>
            </a:r>
            <a:r>
              <a:rPr lang="ru-RU" sz="2400" b="1" dirty="0"/>
              <a:t>условия 3-ого </a:t>
            </a:r>
            <a:r>
              <a:rPr lang="ru-RU" sz="2400" b="1" dirty="0" smtClean="0"/>
              <a:t>рода</a:t>
            </a:r>
          </a:p>
          <a:p>
            <a:pPr algn="just">
              <a:lnSpc>
                <a:spcPct val="100000"/>
              </a:lnSpc>
            </a:pPr>
            <a:endParaRPr lang="ru-RU" sz="24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488" y="2375384"/>
            <a:ext cx="3389382" cy="13509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488" y="4773428"/>
            <a:ext cx="6468409" cy="143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51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Классификация граничных условий</a:t>
            </a:r>
            <a:endParaRPr lang="en-US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ru-RU" b="1" dirty="0"/>
              <a:t>Смешанные граничные условия</a:t>
            </a:r>
          </a:p>
          <a:p>
            <a:pPr algn="just">
              <a:lnSpc>
                <a:spcPct val="100000"/>
              </a:lnSpc>
            </a:pPr>
            <a:r>
              <a:rPr lang="ru-RU" b="1" dirty="0"/>
              <a:t>В этом случае левое и правое граничные условия могут быть разных родов:</a:t>
            </a:r>
          </a:p>
          <a:p>
            <a:endParaRPr lang="ru-RU" dirty="0"/>
          </a:p>
          <a:p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73394"/>
            <a:ext cx="397192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79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97113" y="821979"/>
            <a:ext cx="10076069" cy="398414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entury Schoolbook" panose="02040604050505020304" pitchFamily="18" charset="0"/>
                <a:hlinkClick r:id="rId2"/>
              </a:rPr>
              <a:t>https://</a:t>
            </a:r>
            <a:r>
              <a:rPr lang="en-US" sz="3200" dirty="0" smtClean="0">
                <a:latin typeface="Century Schoolbook" panose="02040604050505020304" pitchFamily="18" charset="0"/>
                <a:hlinkClick r:id="rId2"/>
              </a:rPr>
              <a:t>nizrp.narod.ru/metod/kafpriklmatiif/15.pdf?ysclid=mtmom6dxez808224036</a:t>
            </a:r>
            <a:r>
              <a:rPr lang="en-US" sz="3200" dirty="0" smtClean="0">
                <a:latin typeface="Century Schoolbook" panose="02040604050505020304" pitchFamily="18" charset="0"/>
              </a:rPr>
              <a:t> </a:t>
            </a:r>
            <a:r>
              <a:rPr lang="ru-RU" sz="3200" dirty="0" smtClean="0">
                <a:latin typeface="Century Schoolbook" panose="02040604050505020304" pitchFamily="18" charset="0"/>
              </a:rPr>
              <a:t/>
            </a:r>
            <a:br>
              <a:rPr lang="ru-RU" sz="3200" dirty="0" smtClean="0">
                <a:latin typeface="Century Schoolbook" panose="02040604050505020304" pitchFamily="18" charset="0"/>
              </a:rPr>
            </a:br>
            <a:r>
              <a:rPr lang="ru-RU" sz="3200" smtClean="0">
                <a:latin typeface="Century Schoolbook" panose="02040604050505020304" pitchFamily="18" charset="0"/>
              </a:rPr>
              <a:t/>
            </a:r>
            <a:br>
              <a:rPr lang="ru-RU" sz="3200" smtClean="0">
                <a:latin typeface="Century Schoolbook" panose="02040604050505020304" pitchFamily="18" charset="0"/>
              </a:rPr>
            </a:br>
            <a:endParaRPr lang="ru-RU" sz="32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540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1982</TotalTime>
  <Words>878</Words>
  <Application>Microsoft Office PowerPoint</Application>
  <PresentationFormat>Широкоэкранный</PresentationFormat>
  <Paragraphs>106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Century Schoolbook</vt:lpstr>
      <vt:lpstr>Тема Office</vt:lpstr>
      <vt:lpstr>Тема «Задачи: классификация, методы решения, граничные условия»</vt:lpstr>
      <vt:lpstr>Классификация задач</vt:lpstr>
      <vt:lpstr>Классификация задач</vt:lpstr>
      <vt:lpstr>Виды задач и их функции:</vt:lpstr>
      <vt:lpstr>Методы решения</vt:lpstr>
      <vt:lpstr>Методы решения</vt:lpstr>
      <vt:lpstr>Классификация задач оптимизации</vt:lpstr>
      <vt:lpstr>Методы решения</vt:lpstr>
      <vt:lpstr>Методы решения</vt:lpstr>
      <vt:lpstr>Начальные и граничные условия</vt:lpstr>
      <vt:lpstr>Классификация граничных условий</vt:lpstr>
      <vt:lpstr>Классификация граничных условий</vt:lpstr>
      <vt:lpstr>Классификация граничных условий</vt:lpstr>
      <vt:lpstr>https://nizrp.narod.ru/metod/kafpriklmatiif/15.pdf?ysclid=mtmom6dxez808224036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Дисциплина: «МДК 01.01. Технология разработки программного обеспечения»  Лекция на тему: «Анализ проблемы и моделирование предметной области с использованием системного подхода»</dc:title>
  <dc:creator>MainPC-User</dc:creator>
  <cp:lastModifiedBy>Яковлева Ксения С.</cp:lastModifiedBy>
  <cp:revision>115</cp:revision>
  <dcterms:created xsi:type="dcterms:W3CDTF">2020-12-08T14:24:13Z</dcterms:created>
  <dcterms:modified xsi:type="dcterms:W3CDTF">2026-09-04T11:25:52Z</dcterms:modified>
</cp:coreProperties>
</file>